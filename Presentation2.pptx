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002B-D0D2-063B-C09F-232C565D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57B8F-093E-A261-E3E4-E488D4266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7FF85-0325-B83F-65BB-1E95BE88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6AE27-6CC2-E351-3F84-E323ADBC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4F1D9-5B5F-019E-D523-ECFA2C37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84D1-CC58-3E67-FFD9-92B54CBF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934FD-8A1B-9547-6FD0-9781AB37D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F1813-8B0D-1C5B-9461-BD5DE426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11B79-E224-1F6A-06DE-23E72784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DE1AE-C69F-5DAD-3D4F-A7334285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14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FBC3-DEFD-D851-39F8-120CB1C1B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352E9-2A1C-9634-F33A-7B258A9BD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E4054-35F0-E09F-276A-B025FB76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7CBF-EB85-B770-16B3-D988F18C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A1235-18AC-BFAA-E663-4B03EE70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51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F715-0791-788D-F707-9B3D2AA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D69A-DA1A-A9A7-BD87-AFE80DE91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0C217-22CA-44D8-6F20-9394559B4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6EBAB-9890-487E-3BDE-B87B3CFB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452BA-44DD-8905-94BE-071EC7C1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16C38-0780-521C-F26D-94227A0D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31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06EB-B5A9-41DF-650D-A799E51B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5652B-D8CD-9595-C1A6-A4C47EE78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8E7E-02A8-1008-0068-4716CED6B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D986B-619D-1832-E43C-B2573C495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1C8BC-528F-DC38-8601-E63EF8CC9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D6435-0932-2006-E4F9-68C61F49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6F597C-5EB1-7FB2-2BDA-A62D7B40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15BDB2-DC3F-3B71-41BB-31239341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10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C04B7-0945-7571-6613-868E59ED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7B66D-9EBC-F18E-136E-13961830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9E528-DDB4-54B0-C8F4-766B25FD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D5038-2B85-A8F2-DD7B-AA50E16C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4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2D875-CC7F-2338-2430-2E99F25D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A57E9B-9C31-A966-4F67-2DFEE9BB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AD79C-6909-2B08-DEC0-57D3AF89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455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CB00-68EF-023F-F746-23097C08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1BE9-751C-7EF0-1A50-BF8C5B1BD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BE80D-7B1F-09C3-757E-58ABB839C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7FDD7-FA0F-11D3-EB92-2DC9A1CD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92E56-CB29-8E6E-1115-D0AF615E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1931A-3E05-DD7F-2D03-980389CBD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6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6E51-8816-CAE7-37F5-27168DA1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22038-F155-5CEC-0599-EDE1B6643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DB3E6-1B8F-7C74-776A-36C7102A1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E8AC9-B92F-7A6B-95AC-F768ED42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82021-AE03-0E1D-D3E3-38AC3710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1F8F7-640C-0A66-F3F7-40A70A9F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863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0D1F-F081-7193-973D-34F7A170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E0941-A84B-936D-F1B4-423312C1B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24EE8-C360-1689-BFFE-1E01BD78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203C5-43D7-98BE-9980-4B748107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C99D5-9B33-401E-8807-7CB8B0F5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10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92C7-ECBF-1ACB-B9A6-0D65DA224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B1D1E-96BF-998F-D781-F2AADF0B2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8F30B-DFE7-888D-CDA6-8570778A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08AEF-DB20-CFAF-367D-E6EC63D5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F92E5-DC0F-2B61-5CF6-41E58542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77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14407-1EA5-FED4-71CC-F0A9BA16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DD246-B085-9298-957C-D4EFDD0D8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13E67-F443-65F8-5ED0-93CF31A60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8F0B9-A9FD-481C-96F7-1ACC05351E49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2F18-6F30-8642-E3CB-1272E573F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96DF7-710C-AA81-DE2E-A01B047AE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53528-6332-4B9A-8A32-91747C2EEB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51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BF5ABD-C016-E396-C4BC-99B17CBA3793}"/>
              </a:ext>
            </a:extLst>
          </p:cNvPr>
          <p:cNvGraphicFramePr>
            <a:graphicFrameLocks noGrp="1"/>
          </p:cNvGraphicFramePr>
          <p:nvPr/>
        </p:nvGraphicFramePr>
        <p:xfrm>
          <a:off x="1514475" y="1254125"/>
          <a:ext cx="9162779" cy="435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239">
                  <a:extLst>
                    <a:ext uri="{9D8B030D-6E8A-4147-A177-3AD203B41FA5}">
                      <a16:colId xmlns:a16="http://schemas.microsoft.com/office/drawing/2014/main" val="346790488"/>
                    </a:ext>
                  </a:extLst>
                </a:gridCol>
                <a:gridCol w="309506">
                  <a:extLst>
                    <a:ext uri="{9D8B030D-6E8A-4147-A177-3AD203B41FA5}">
                      <a16:colId xmlns:a16="http://schemas.microsoft.com/office/drawing/2014/main" val="202544280"/>
                    </a:ext>
                  </a:extLst>
                </a:gridCol>
                <a:gridCol w="993217">
                  <a:extLst>
                    <a:ext uri="{9D8B030D-6E8A-4147-A177-3AD203B41FA5}">
                      <a16:colId xmlns:a16="http://schemas.microsoft.com/office/drawing/2014/main" val="730487"/>
                    </a:ext>
                  </a:extLst>
                </a:gridCol>
                <a:gridCol w="335736">
                  <a:extLst>
                    <a:ext uri="{9D8B030D-6E8A-4147-A177-3AD203B41FA5}">
                      <a16:colId xmlns:a16="http://schemas.microsoft.com/office/drawing/2014/main" val="844204958"/>
                    </a:ext>
                  </a:extLst>
                </a:gridCol>
                <a:gridCol w="965239">
                  <a:extLst>
                    <a:ext uri="{9D8B030D-6E8A-4147-A177-3AD203B41FA5}">
                      <a16:colId xmlns:a16="http://schemas.microsoft.com/office/drawing/2014/main" val="2920544160"/>
                    </a:ext>
                  </a:extLst>
                </a:gridCol>
                <a:gridCol w="314752">
                  <a:extLst>
                    <a:ext uri="{9D8B030D-6E8A-4147-A177-3AD203B41FA5}">
                      <a16:colId xmlns:a16="http://schemas.microsoft.com/office/drawing/2014/main" val="536108198"/>
                    </a:ext>
                  </a:extLst>
                </a:gridCol>
                <a:gridCol w="335736">
                  <a:extLst>
                    <a:ext uri="{9D8B030D-6E8A-4147-A177-3AD203B41FA5}">
                      <a16:colId xmlns:a16="http://schemas.microsoft.com/office/drawing/2014/main" val="2191497548"/>
                    </a:ext>
                  </a:extLst>
                </a:gridCol>
                <a:gridCol w="335736">
                  <a:extLst>
                    <a:ext uri="{9D8B030D-6E8A-4147-A177-3AD203B41FA5}">
                      <a16:colId xmlns:a16="http://schemas.microsoft.com/office/drawing/2014/main" val="3427582113"/>
                    </a:ext>
                  </a:extLst>
                </a:gridCol>
                <a:gridCol w="321746">
                  <a:extLst>
                    <a:ext uri="{9D8B030D-6E8A-4147-A177-3AD203B41FA5}">
                      <a16:colId xmlns:a16="http://schemas.microsoft.com/office/drawing/2014/main" val="3174400589"/>
                    </a:ext>
                  </a:extLst>
                </a:gridCol>
                <a:gridCol w="335736">
                  <a:extLst>
                    <a:ext uri="{9D8B030D-6E8A-4147-A177-3AD203B41FA5}">
                      <a16:colId xmlns:a16="http://schemas.microsoft.com/office/drawing/2014/main" val="2381293950"/>
                    </a:ext>
                  </a:extLst>
                </a:gridCol>
                <a:gridCol w="335736">
                  <a:extLst>
                    <a:ext uri="{9D8B030D-6E8A-4147-A177-3AD203B41FA5}">
                      <a16:colId xmlns:a16="http://schemas.microsoft.com/office/drawing/2014/main" val="3951019083"/>
                    </a:ext>
                  </a:extLst>
                </a:gridCol>
                <a:gridCol w="309506">
                  <a:extLst>
                    <a:ext uri="{9D8B030D-6E8A-4147-A177-3AD203B41FA5}">
                      <a16:colId xmlns:a16="http://schemas.microsoft.com/office/drawing/2014/main" val="2814153534"/>
                    </a:ext>
                  </a:extLst>
                </a:gridCol>
                <a:gridCol w="335736">
                  <a:extLst>
                    <a:ext uri="{9D8B030D-6E8A-4147-A177-3AD203B41FA5}">
                      <a16:colId xmlns:a16="http://schemas.microsoft.com/office/drawing/2014/main" val="2345069554"/>
                    </a:ext>
                  </a:extLst>
                </a:gridCol>
                <a:gridCol w="377702">
                  <a:extLst>
                    <a:ext uri="{9D8B030D-6E8A-4147-A177-3AD203B41FA5}">
                      <a16:colId xmlns:a16="http://schemas.microsoft.com/office/drawing/2014/main" val="1969467493"/>
                    </a:ext>
                  </a:extLst>
                </a:gridCol>
                <a:gridCol w="377702">
                  <a:extLst>
                    <a:ext uri="{9D8B030D-6E8A-4147-A177-3AD203B41FA5}">
                      <a16:colId xmlns:a16="http://schemas.microsoft.com/office/drawing/2014/main" val="2313814804"/>
                    </a:ext>
                  </a:extLst>
                </a:gridCol>
                <a:gridCol w="370708">
                  <a:extLst>
                    <a:ext uri="{9D8B030D-6E8A-4147-A177-3AD203B41FA5}">
                      <a16:colId xmlns:a16="http://schemas.microsoft.com/office/drawing/2014/main" val="282510572"/>
                    </a:ext>
                  </a:extLst>
                </a:gridCol>
                <a:gridCol w="372456">
                  <a:extLst>
                    <a:ext uri="{9D8B030D-6E8A-4147-A177-3AD203B41FA5}">
                      <a16:colId xmlns:a16="http://schemas.microsoft.com/office/drawing/2014/main" val="2274309448"/>
                    </a:ext>
                  </a:extLst>
                </a:gridCol>
                <a:gridCol w="496608">
                  <a:extLst>
                    <a:ext uri="{9D8B030D-6E8A-4147-A177-3AD203B41FA5}">
                      <a16:colId xmlns:a16="http://schemas.microsoft.com/office/drawing/2014/main" val="1850205475"/>
                    </a:ext>
                  </a:extLst>
                </a:gridCol>
                <a:gridCol w="342730">
                  <a:extLst>
                    <a:ext uri="{9D8B030D-6E8A-4147-A177-3AD203B41FA5}">
                      <a16:colId xmlns:a16="http://schemas.microsoft.com/office/drawing/2014/main" val="2027830635"/>
                    </a:ext>
                  </a:extLst>
                </a:gridCol>
                <a:gridCol w="351473">
                  <a:extLst>
                    <a:ext uri="{9D8B030D-6E8A-4147-A177-3AD203B41FA5}">
                      <a16:colId xmlns:a16="http://schemas.microsoft.com/office/drawing/2014/main" val="3291122195"/>
                    </a:ext>
                  </a:extLst>
                </a:gridCol>
                <a:gridCol w="279779">
                  <a:extLst>
                    <a:ext uri="{9D8B030D-6E8A-4147-A177-3AD203B41FA5}">
                      <a16:colId xmlns:a16="http://schemas.microsoft.com/office/drawing/2014/main" val="2624830310"/>
                    </a:ext>
                  </a:extLst>
                </a:gridCol>
              </a:tblGrid>
              <a:tr h="14108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순번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공 정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공정 내용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설비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세부항목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표준시간</a:t>
                      </a:r>
                      <a:r>
                        <a:rPr lang="en-US" altLang="ko-KR" sz="600" u="none" strike="noStrike">
                          <a:effectLst/>
                        </a:rPr>
                        <a:t>(</a:t>
                      </a:r>
                      <a:r>
                        <a:rPr lang="ko-KR" altLang="en-US" sz="600" u="none" strike="noStrike">
                          <a:effectLst/>
                        </a:rPr>
                        <a:t>합계</a:t>
                      </a:r>
                      <a:r>
                        <a:rPr lang="en-US" altLang="ko-KR" sz="600" u="none" strike="noStrike">
                          <a:effectLst/>
                        </a:rPr>
                        <a:t>)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생산능력</a:t>
                      </a:r>
                      <a:br>
                        <a:rPr lang="ko-KR" altLang="en-US" sz="600" u="none" strike="noStrike">
                          <a:effectLst/>
                        </a:rPr>
                      </a:br>
                      <a:r>
                        <a:rPr lang="en-US" altLang="ko-KR" sz="600" u="none" strike="noStrike">
                          <a:effectLst/>
                        </a:rPr>
                        <a:t>(1</a:t>
                      </a:r>
                      <a:r>
                        <a:rPr lang="ko-KR" altLang="en-US" sz="600" u="none" strike="noStrike">
                          <a:effectLst/>
                        </a:rPr>
                        <a:t>일 </a:t>
                      </a:r>
                      <a:r>
                        <a:rPr lang="en-US" altLang="ko-KR" sz="600" u="none" strike="noStrike">
                          <a:effectLst/>
                        </a:rPr>
                        <a:t>10.5</a:t>
                      </a:r>
                      <a:r>
                        <a:rPr lang="ko-KR" altLang="en-US" sz="600" u="none" strike="noStrike">
                          <a:effectLst/>
                        </a:rPr>
                        <a:t>시간</a:t>
                      </a:r>
                      <a:r>
                        <a:rPr lang="en-US" altLang="ko-KR" sz="600" u="none" strike="noStrike">
                          <a:effectLst/>
                        </a:rPr>
                        <a:t>)</a:t>
                      </a:r>
                      <a:endParaRPr lang="en-US" altLang="ko-KR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투입인원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검증공수</a:t>
                      </a:r>
                      <a:br>
                        <a:rPr lang="ko-KR" altLang="en-US" sz="600" u="none" strike="noStrike">
                          <a:effectLst/>
                        </a:rPr>
                      </a:br>
                      <a:r>
                        <a:rPr lang="en-US" altLang="ko-KR" sz="600" u="none" strike="noStrike">
                          <a:effectLst/>
                        </a:rPr>
                        <a:t>(</a:t>
                      </a:r>
                      <a:r>
                        <a:rPr lang="en-US" sz="600" u="none" strike="noStrike">
                          <a:effectLst/>
                        </a:rPr>
                        <a:t>M/M)</a:t>
                      </a:r>
                      <a:endParaRPr 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비고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1167668320"/>
                  </a:ext>
                </a:extLst>
              </a:tr>
              <a:tr h="2351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세부공정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제품</a:t>
                      </a:r>
                      <a:r>
                        <a:rPr lang="en-US" sz="600" u="none" strike="noStrike">
                          <a:effectLst/>
                        </a:rPr>
                        <a:t>IN/OUT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공구</a:t>
                      </a:r>
                      <a:br>
                        <a:rPr lang="ko-KR" altLang="en-US" sz="600" u="none" strike="noStrike">
                          <a:effectLst/>
                        </a:rPr>
                      </a:br>
                      <a:r>
                        <a:rPr lang="ko-KR" altLang="en-US" sz="600" u="none" strike="noStrike">
                          <a:effectLst/>
                        </a:rPr>
                        <a:t>교환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가공길이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절입량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절입깊이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절입횟수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FEEDER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총절삭</a:t>
                      </a:r>
                      <a:br>
                        <a:rPr lang="ko-KR" altLang="en-US" sz="600" u="none" strike="noStrike">
                          <a:effectLst/>
                        </a:rPr>
                      </a:br>
                      <a:r>
                        <a:rPr lang="ko-KR" altLang="en-US" sz="600" u="none" strike="noStrike">
                          <a:effectLst/>
                        </a:rPr>
                        <a:t>길이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가동시간</a:t>
                      </a:r>
                      <a:br>
                        <a:rPr lang="ko-KR" altLang="en-US" sz="600" u="none" strike="noStrike">
                          <a:effectLst/>
                        </a:rPr>
                      </a:br>
                      <a:r>
                        <a:rPr lang="en-US" altLang="ko-KR" sz="600" u="none" strike="noStrike">
                          <a:effectLst/>
                        </a:rPr>
                        <a:t>(</a:t>
                      </a:r>
                      <a:r>
                        <a:rPr lang="en-US" sz="600" u="none" strike="noStrike">
                          <a:effectLst/>
                        </a:rPr>
                        <a:t>min)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시간</a:t>
                      </a:r>
                      <a:r>
                        <a:rPr lang="en-US" altLang="ko-KR" sz="600" u="none" strike="noStrike">
                          <a:effectLst/>
                        </a:rPr>
                        <a:t>(</a:t>
                      </a:r>
                      <a:r>
                        <a:rPr lang="en-US" sz="600" u="none" strike="noStrike">
                          <a:effectLst/>
                        </a:rPr>
                        <a:t>min)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H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465143"/>
                  </a:ext>
                </a:extLst>
              </a:tr>
              <a:tr h="19399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10</a:t>
                      </a:r>
                      <a:r>
                        <a:rPr lang="ko-KR" altLang="en-US" sz="600" u="none" strike="noStrike">
                          <a:effectLst/>
                        </a:rPr>
                        <a:t>공정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원자재 수입검사 및 </a:t>
                      </a:r>
                      <a:r>
                        <a:rPr lang="en-US" altLang="ko-KR" sz="600" u="none" strike="noStrike">
                          <a:effectLst/>
                        </a:rPr>
                        <a:t>2</a:t>
                      </a:r>
                      <a:r>
                        <a:rPr lang="ko-KR" altLang="en-US" sz="600" u="none" strike="noStrike">
                          <a:effectLst/>
                        </a:rPr>
                        <a:t>면 가공</a:t>
                      </a:r>
                      <a:br>
                        <a:rPr lang="ko-KR" altLang="en-US" sz="600" u="none" strike="noStrike">
                          <a:effectLst/>
                        </a:rPr>
                      </a:br>
                      <a:r>
                        <a:rPr lang="en-US" altLang="ko-KR" sz="600" u="none" strike="noStrike">
                          <a:effectLst/>
                        </a:rPr>
                        <a:t>Φ5.1 -0.02 x 2,500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그라인더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원자재 검사</a:t>
                      </a:r>
                      <a:r>
                        <a:rPr lang="en-US" altLang="ko-KR" sz="600" u="none" strike="noStrike">
                          <a:effectLst/>
                        </a:rPr>
                        <a:t>(</a:t>
                      </a:r>
                      <a:r>
                        <a:rPr lang="ko-KR" altLang="en-US" sz="600" u="none" strike="noStrike">
                          <a:effectLst/>
                        </a:rPr>
                        <a:t>외곽</a:t>
                      </a:r>
                      <a:r>
                        <a:rPr lang="en-US" altLang="ko-KR" sz="600" u="none" strike="noStrike">
                          <a:effectLst/>
                        </a:rPr>
                        <a:t>,</a:t>
                      </a:r>
                      <a:r>
                        <a:rPr lang="ko-KR" altLang="en-US" sz="600" u="none" strike="noStrike">
                          <a:effectLst/>
                        </a:rPr>
                        <a:t>표면 찍힘</a:t>
                      </a:r>
                      <a:r>
                        <a:rPr lang="en-US" altLang="ko-KR" sz="600" u="none" strike="noStrike">
                          <a:effectLst/>
                        </a:rPr>
                        <a:t>)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0.10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601271356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u="none" strike="noStrike">
                          <a:effectLst/>
                        </a:rPr>
                        <a:t>2</a:t>
                      </a:r>
                      <a:r>
                        <a:rPr lang="ko-KR" altLang="en-US" sz="600" u="none" strike="noStrike">
                          <a:effectLst/>
                        </a:rPr>
                        <a:t>곳 모따기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0.50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2569048352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공정이동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0.20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281109196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소계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0.80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0.013333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787.5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0.000 </a:t>
                      </a:r>
                      <a:endParaRPr lang="en-US" altLang="ko-KR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3031846407"/>
                  </a:ext>
                </a:extLst>
              </a:tr>
              <a:tr h="157546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20</a:t>
                      </a:r>
                      <a:r>
                        <a:rPr lang="ko-KR" altLang="en-US" sz="600" u="none" strike="noStrike">
                          <a:effectLst/>
                        </a:rPr>
                        <a:t>공정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선삭 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CNC</a:t>
                      </a:r>
                      <a:br>
                        <a:rPr lang="en-US" sz="600" u="none" strike="noStrike">
                          <a:effectLst/>
                        </a:rPr>
                      </a:br>
                      <a:r>
                        <a:rPr lang="ko-KR" altLang="en-US" sz="600" u="none" strike="noStrike">
                          <a:effectLst/>
                        </a:rPr>
                        <a:t>자동선반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원자재 투입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0.01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3928843534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터닝 외경가공</a:t>
                      </a:r>
                      <a:r>
                        <a:rPr lang="en-US" altLang="ko-KR" sz="600" u="none" strike="noStrike">
                          <a:effectLst/>
                        </a:rPr>
                        <a:t>(Φ5.0)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5.00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4.80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0.88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0.80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5.00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0.11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0.11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2018782312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홈가공</a:t>
                      </a:r>
                      <a:r>
                        <a:rPr lang="en-US" altLang="ko-KR" sz="600" u="none" strike="noStrike">
                          <a:effectLst/>
                        </a:rPr>
                        <a:t>(</a:t>
                      </a:r>
                      <a:r>
                        <a:rPr lang="ko-KR" altLang="en-US" sz="600" u="none" strike="noStrike">
                          <a:effectLst/>
                        </a:rPr>
                        <a:t>황삭</a:t>
                      </a:r>
                      <a:r>
                        <a:rPr lang="en-US" altLang="ko-KR" sz="600" u="none" strike="noStrike">
                          <a:effectLst/>
                        </a:rPr>
                        <a:t>)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6.00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2.50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0.50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1.40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6.00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0.07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2208277490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되깎기 외경가공</a:t>
                      </a:r>
                      <a:r>
                        <a:rPr lang="en-US" altLang="ko-KR" sz="600" u="none" strike="noStrike">
                          <a:effectLst/>
                        </a:rPr>
                        <a:t>(Φ3.4</a:t>
                      </a:r>
                      <a:r>
                        <a:rPr lang="ko-KR" altLang="en-US" sz="600" u="none" strike="noStrike">
                          <a:effectLst/>
                        </a:rPr>
                        <a:t>외</a:t>
                      </a:r>
                      <a:r>
                        <a:rPr lang="en-US" altLang="ko-KR" sz="600" u="none" strike="noStrike">
                          <a:effectLst/>
                        </a:rPr>
                        <a:t>)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9.28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3.00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0.62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0.80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9.28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0.19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0.19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4196286687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나사가공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4.00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0.18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4.00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3.00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48.00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0.27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0.27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3138623065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홈바이트 디버링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1.05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2.15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2.15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1.05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0.02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465983151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되깎기 외경가공</a:t>
                      </a:r>
                      <a:r>
                        <a:rPr lang="en-US" altLang="ko-KR" sz="600" u="none" strike="noStrike">
                          <a:effectLst/>
                        </a:rPr>
                        <a:t>(Φ2.80 </a:t>
                      </a:r>
                      <a:r>
                        <a:rPr lang="ko-KR" altLang="en-US" sz="600" u="none" strike="noStrike">
                          <a:effectLst/>
                        </a:rPr>
                        <a:t>외</a:t>
                      </a:r>
                      <a:r>
                        <a:rPr lang="en-US" altLang="ko-KR" sz="600" u="none" strike="noStrike">
                          <a:effectLst/>
                        </a:rPr>
                        <a:t>)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9.38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2.80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2.80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0.80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9.38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0.20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2796344112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나사 디버링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4.00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0.04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1.00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8.00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0.13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0.13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4100924691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절단 제품 </a:t>
                      </a:r>
                      <a:r>
                        <a:rPr lang="en-US" sz="600" u="none" strike="noStrike">
                          <a:effectLst/>
                        </a:rPr>
                        <a:t>OUT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0.005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0.01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3638232714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세척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u="none" strike="noStrike">
                          <a:effectLst/>
                        </a:rPr>
                        <a:t>0.2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0.20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745748614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소계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1.20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0.020033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524.1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0.000 </a:t>
                      </a:r>
                      <a:endParaRPr lang="en-US" altLang="ko-KR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328703127"/>
                  </a:ext>
                </a:extLst>
              </a:tr>
              <a:tr h="15754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30</a:t>
                      </a:r>
                      <a:r>
                        <a:rPr lang="ko-KR" altLang="en-US" sz="600" u="none" strike="noStrike">
                          <a:effectLst/>
                        </a:rPr>
                        <a:t>공정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최종검사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제품 반입</a:t>
                      </a:r>
                      <a:r>
                        <a:rPr lang="en-US" altLang="ko-KR" sz="600" u="none" strike="noStrike">
                          <a:effectLst/>
                        </a:rPr>
                        <a:t>(</a:t>
                      </a:r>
                      <a:r>
                        <a:rPr lang="ko-KR" altLang="en-US" sz="600" u="none" strike="noStrike">
                          <a:effectLst/>
                        </a:rPr>
                        <a:t>택배</a:t>
                      </a:r>
                      <a:r>
                        <a:rPr lang="en-US" altLang="ko-KR" sz="600" u="none" strike="noStrike">
                          <a:effectLst/>
                        </a:rPr>
                        <a:t>)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1631045101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외관육안검사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0.30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3160816443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외관 치수검사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0.80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2081465837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소계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1.10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0.018333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572.7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0.000 </a:t>
                      </a:r>
                      <a:endParaRPr lang="en-US" altLang="ko-KR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130152140"/>
                  </a:ext>
                </a:extLst>
              </a:tr>
              <a:tr h="15754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40</a:t>
                      </a:r>
                      <a:r>
                        <a:rPr lang="ko-KR" altLang="en-US" sz="600" u="none" strike="noStrike">
                          <a:effectLst/>
                        </a:rPr>
                        <a:t>공정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포장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라벨부착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0.50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4215717844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보호지 포장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662492952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제품 식별표 부착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0.10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3522817594"/>
                  </a:ext>
                </a:extLst>
              </a:tr>
              <a:tr h="15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소계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0.80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0.013333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787.5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0.000 </a:t>
                      </a:r>
                      <a:endParaRPr lang="en-US" altLang="ko-KR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80603604"/>
                  </a:ext>
                </a:extLst>
              </a:tr>
              <a:tr h="157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납품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출하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수작업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0.000000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1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1013225788"/>
                  </a:ext>
                </a:extLst>
              </a:tr>
              <a:tr h="15754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합계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3.902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0.065033</a:t>
                      </a:r>
                      <a:endParaRPr lang="en-US" altLang="ko-KR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524.1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>
                          <a:effectLst/>
                        </a:rPr>
                        <a:t>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0.000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 dirty="0">
                          <a:effectLst/>
                        </a:rPr>
                        <a:t>　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79" marR="5879" marT="5879" marB="0" anchor="ctr"/>
                </a:tc>
                <a:extLst>
                  <a:ext uri="{0D108BD9-81ED-4DB2-BD59-A6C34878D82A}">
                    <a16:rowId xmlns:a16="http://schemas.microsoft.com/office/drawing/2014/main" val="2803740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32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0091B6-5472-C44C-DE29-E7FDF82587BB}"/>
              </a:ext>
            </a:extLst>
          </p:cNvPr>
          <p:cNvGraphicFramePr>
            <a:graphicFrameLocks noGrp="1"/>
          </p:cNvGraphicFramePr>
          <p:nvPr/>
        </p:nvGraphicFramePr>
        <p:xfrm>
          <a:off x="2762250" y="1254125"/>
          <a:ext cx="6666103" cy="4351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09">
                  <a:extLst>
                    <a:ext uri="{9D8B030D-6E8A-4147-A177-3AD203B41FA5}">
                      <a16:colId xmlns:a16="http://schemas.microsoft.com/office/drawing/2014/main" val="2100540180"/>
                    </a:ext>
                  </a:extLst>
                </a:gridCol>
                <a:gridCol w="422968">
                  <a:extLst>
                    <a:ext uri="{9D8B030D-6E8A-4147-A177-3AD203B41FA5}">
                      <a16:colId xmlns:a16="http://schemas.microsoft.com/office/drawing/2014/main" val="366064999"/>
                    </a:ext>
                  </a:extLst>
                </a:gridCol>
                <a:gridCol w="187215">
                  <a:extLst>
                    <a:ext uri="{9D8B030D-6E8A-4147-A177-3AD203B41FA5}">
                      <a16:colId xmlns:a16="http://schemas.microsoft.com/office/drawing/2014/main" val="293134855"/>
                    </a:ext>
                  </a:extLst>
                </a:gridCol>
                <a:gridCol w="915276">
                  <a:extLst>
                    <a:ext uri="{9D8B030D-6E8A-4147-A177-3AD203B41FA5}">
                      <a16:colId xmlns:a16="http://schemas.microsoft.com/office/drawing/2014/main" val="46479225"/>
                    </a:ext>
                  </a:extLst>
                </a:gridCol>
                <a:gridCol w="104009">
                  <a:extLst>
                    <a:ext uri="{9D8B030D-6E8A-4147-A177-3AD203B41FA5}">
                      <a16:colId xmlns:a16="http://schemas.microsoft.com/office/drawing/2014/main" val="3719011155"/>
                    </a:ext>
                  </a:extLst>
                </a:gridCol>
                <a:gridCol w="104009">
                  <a:extLst>
                    <a:ext uri="{9D8B030D-6E8A-4147-A177-3AD203B41FA5}">
                      <a16:colId xmlns:a16="http://schemas.microsoft.com/office/drawing/2014/main" val="3955126810"/>
                    </a:ext>
                  </a:extLst>
                </a:gridCol>
                <a:gridCol w="104009">
                  <a:extLst>
                    <a:ext uri="{9D8B030D-6E8A-4147-A177-3AD203B41FA5}">
                      <a16:colId xmlns:a16="http://schemas.microsoft.com/office/drawing/2014/main" val="300765254"/>
                    </a:ext>
                  </a:extLst>
                </a:gridCol>
                <a:gridCol w="205417">
                  <a:extLst>
                    <a:ext uri="{9D8B030D-6E8A-4147-A177-3AD203B41FA5}">
                      <a16:colId xmlns:a16="http://schemas.microsoft.com/office/drawing/2014/main" val="2178438554"/>
                    </a:ext>
                  </a:extLst>
                </a:gridCol>
                <a:gridCol w="205417">
                  <a:extLst>
                    <a:ext uri="{9D8B030D-6E8A-4147-A177-3AD203B41FA5}">
                      <a16:colId xmlns:a16="http://schemas.microsoft.com/office/drawing/2014/main" val="2761476790"/>
                    </a:ext>
                  </a:extLst>
                </a:gridCol>
                <a:gridCol w="218418">
                  <a:extLst>
                    <a:ext uri="{9D8B030D-6E8A-4147-A177-3AD203B41FA5}">
                      <a16:colId xmlns:a16="http://schemas.microsoft.com/office/drawing/2014/main" val="1547578271"/>
                    </a:ext>
                  </a:extLst>
                </a:gridCol>
                <a:gridCol w="142145">
                  <a:extLst>
                    <a:ext uri="{9D8B030D-6E8A-4147-A177-3AD203B41FA5}">
                      <a16:colId xmlns:a16="http://schemas.microsoft.com/office/drawing/2014/main" val="2062387668"/>
                    </a:ext>
                  </a:extLst>
                </a:gridCol>
                <a:gridCol w="242687">
                  <a:extLst>
                    <a:ext uri="{9D8B030D-6E8A-4147-A177-3AD203B41FA5}">
                      <a16:colId xmlns:a16="http://schemas.microsoft.com/office/drawing/2014/main" val="910406430"/>
                    </a:ext>
                  </a:extLst>
                </a:gridCol>
                <a:gridCol w="169881">
                  <a:extLst>
                    <a:ext uri="{9D8B030D-6E8A-4147-A177-3AD203B41FA5}">
                      <a16:colId xmlns:a16="http://schemas.microsoft.com/office/drawing/2014/main" val="883259237"/>
                    </a:ext>
                  </a:extLst>
                </a:gridCol>
                <a:gridCol w="122210">
                  <a:extLst>
                    <a:ext uri="{9D8B030D-6E8A-4147-A177-3AD203B41FA5}">
                      <a16:colId xmlns:a16="http://schemas.microsoft.com/office/drawing/2014/main" val="1820367641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432693418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2221326850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3211297533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2086597060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809772350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379751984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583884333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2102510632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715779404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3379202847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3030454399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2627204397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2599310677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643273313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355301951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692436052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405297551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924268166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2795001598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163143562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4271822141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10778061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2760630402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2950221622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358823693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714587792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984413317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3392260071"/>
                    </a:ext>
                  </a:extLst>
                </a:gridCol>
                <a:gridCol w="117877">
                  <a:extLst>
                    <a:ext uri="{9D8B030D-6E8A-4147-A177-3AD203B41FA5}">
                      <a16:colId xmlns:a16="http://schemas.microsoft.com/office/drawing/2014/main" val="1837740824"/>
                    </a:ext>
                  </a:extLst>
                </a:gridCol>
              </a:tblGrid>
              <a:tr h="12225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500" u="none" strike="noStrike">
                          <a:effectLst/>
                        </a:rPr>
                        <a:t>□ 공수 집계표</a:t>
                      </a:r>
                      <a:endParaRPr lang="ko-KR" altLang="en-US" sz="5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686167769"/>
                  </a:ext>
                </a:extLst>
              </a:tr>
              <a:tr h="858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u="none" strike="noStrike">
                          <a:effectLst/>
                        </a:rPr>
                        <a:t>　</a:t>
                      </a:r>
                      <a:endParaRPr lang="ko-KR" altLang="en-US" sz="5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500" u="none" strike="noStrike">
                          <a:effectLst/>
                        </a:rPr>
                        <a:t>　</a:t>
                      </a:r>
                      <a:endParaRPr lang="ko-KR" altLang="en-US" sz="5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398360992"/>
                  </a:ext>
                </a:extLst>
              </a:tr>
              <a:tr h="57227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300" u="none" strike="noStrike">
                          <a:effectLst/>
                        </a:rPr>
                        <a:t>● 제품명 </a:t>
                      </a:r>
                      <a:r>
                        <a:rPr lang="en-US" altLang="ko-KR" sz="300" u="none" strike="noStrike">
                          <a:effectLst/>
                        </a:rPr>
                        <a:t>: 230mm</a:t>
                      </a:r>
                      <a:r>
                        <a:rPr lang="ko-KR" altLang="en-US" sz="300" u="none" strike="noStrike">
                          <a:effectLst/>
                        </a:rPr>
                        <a:t>무유도 핀</a:t>
                      </a:r>
                      <a:r>
                        <a:rPr lang="en-US" altLang="ko-KR" sz="300" u="none" strike="noStrike">
                          <a:effectLst/>
                        </a:rPr>
                        <a:t>,</a:t>
                      </a:r>
                      <a:r>
                        <a:rPr lang="ko-KR" altLang="en-US" sz="300" u="none" strike="noStrike">
                          <a:effectLst/>
                        </a:rPr>
                        <a:t>직선형</a:t>
                      </a:r>
                      <a:r>
                        <a:rPr lang="en-US" altLang="ko-KR" sz="300" u="none" strike="noStrike">
                          <a:effectLst/>
                        </a:rPr>
                        <a:t>,</a:t>
                      </a:r>
                      <a:r>
                        <a:rPr lang="ko-KR" altLang="en-US" sz="300" u="none" strike="noStrike">
                          <a:effectLst/>
                        </a:rPr>
                        <a:t>유두형</a:t>
                      </a:r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417657362"/>
                  </a:ext>
                </a:extLst>
              </a:tr>
              <a:tr h="494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</a:t>
                      </a:r>
                      <a:br>
                        <a:rPr lang="ko-KR" altLang="en-US" sz="200" u="none" strike="noStrike">
                          <a:effectLst/>
                        </a:rPr>
                      </a:br>
                      <a:r>
                        <a:rPr lang="ko-KR" altLang="en-US" sz="200" u="none" strike="noStrike">
                          <a:effectLst/>
                        </a:rPr>
                        <a:t>번호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단위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수량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인원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시간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공수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비고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716444154"/>
                  </a:ext>
                </a:extLst>
              </a:tr>
              <a:tr h="49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공정명칭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분류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작업내용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(M)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(H)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68089681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원자재 검사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수작업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외관</a:t>
                      </a:r>
                      <a:r>
                        <a:rPr lang="en-US" altLang="ko-KR" sz="200" u="none" strike="noStrike">
                          <a:effectLst/>
                        </a:rPr>
                        <a:t>,</a:t>
                      </a:r>
                      <a:r>
                        <a:rPr lang="ko-KR" altLang="en-US" sz="200" u="none" strike="noStrike">
                          <a:effectLst/>
                        </a:rPr>
                        <a:t>치수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983073564"/>
                  </a:ext>
                </a:extLst>
              </a:tr>
              <a:tr h="775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선 삭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CNC </a:t>
                      </a:r>
                      <a:r>
                        <a:rPr lang="ko-KR" altLang="en-US" sz="200" u="none" strike="noStrike">
                          <a:effectLst/>
                        </a:rPr>
                        <a:t>자동선반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완성가공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0.315789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   </a:t>
                      </a:r>
                      <a:r>
                        <a:rPr lang="en-US" altLang="ko-KR" sz="200" u="none" strike="noStrike">
                          <a:effectLst/>
                        </a:rPr>
                        <a:t>0.005263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8hR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60356926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3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공정 검사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수작업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가공부 치수</a:t>
                      </a:r>
                      <a:r>
                        <a:rPr lang="en-US" altLang="ko-KR" sz="200" u="none" strike="noStrike">
                          <a:effectLst/>
                        </a:rPr>
                        <a:t>,</a:t>
                      </a:r>
                      <a:r>
                        <a:rPr lang="ko-KR" altLang="en-US" sz="200" u="none" strike="noStrike">
                          <a:effectLst/>
                        </a:rPr>
                        <a:t>외관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858600335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4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열처리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열처리로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열처리</a:t>
                      </a:r>
                      <a:r>
                        <a:rPr lang="en-US" altLang="ko-KR" sz="200" u="none" strike="noStrike">
                          <a:effectLst/>
                        </a:rPr>
                        <a:t>(</a:t>
                      </a:r>
                      <a:r>
                        <a:rPr lang="ko-KR" altLang="en-US" sz="200" u="none" strike="noStrike">
                          <a:effectLst/>
                        </a:rPr>
                        <a:t>외주</a:t>
                      </a:r>
                      <a:r>
                        <a:rPr lang="en-US" altLang="ko-KR" sz="200" u="none" strike="noStrike">
                          <a:effectLst/>
                        </a:rPr>
                        <a:t>)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외주가공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60098479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5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바렐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바렐기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바렐</a:t>
                      </a:r>
                      <a:r>
                        <a:rPr lang="en-US" altLang="ko-KR" sz="200" u="none" strike="noStrike">
                          <a:effectLst/>
                        </a:rPr>
                        <a:t>(</a:t>
                      </a:r>
                      <a:r>
                        <a:rPr lang="ko-KR" altLang="en-US" sz="200" u="none" strike="noStrike">
                          <a:effectLst/>
                        </a:rPr>
                        <a:t>외주</a:t>
                      </a:r>
                      <a:r>
                        <a:rPr lang="en-US" altLang="ko-KR" sz="200" u="none" strike="noStrike">
                          <a:effectLst/>
                        </a:rPr>
                        <a:t>)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외주가공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887833425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6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표면처리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-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표면처리</a:t>
                      </a:r>
                      <a:r>
                        <a:rPr lang="en-US" altLang="ko-KR" sz="200" u="none" strike="noStrike">
                          <a:effectLst/>
                        </a:rPr>
                        <a:t>(</a:t>
                      </a:r>
                      <a:r>
                        <a:rPr lang="ko-KR" altLang="en-US" sz="200" u="none" strike="noStrike">
                          <a:effectLst/>
                        </a:rPr>
                        <a:t>외주</a:t>
                      </a:r>
                      <a:r>
                        <a:rPr lang="en-US" altLang="ko-KR" sz="200" u="none" strike="noStrike">
                          <a:effectLst/>
                        </a:rPr>
                        <a:t>)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외주가공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50854565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7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출하 검사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수작업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가공부 치수</a:t>
                      </a:r>
                      <a:r>
                        <a:rPr lang="en-US" altLang="ko-KR" sz="200" u="none" strike="noStrike">
                          <a:effectLst/>
                        </a:rPr>
                        <a:t>,</a:t>
                      </a:r>
                      <a:r>
                        <a:rPr lang="ko-KR" altLang="en-US" sz="200" u="none" strike="noStrike">
                          <a:effectLst/>
                        </a:rPr>
                        <a:t>외관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829627742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8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224801682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9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76303835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10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892371795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85196657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422803953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13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94518320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14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55618302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15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53531498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16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202403534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17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58404949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18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28651109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19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162517563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20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86946216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656333261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11236641"/>
                  </a:ext>
                </a:extLst>
              </a:tr>
              <a:tr h="49423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합         계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0.005263</a:t>
                      </a:r>
                      <a:endParaRPr lang="en-US" altLang="ko-KR" sz="200" b="1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91358443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l" fontAlgn="ctr"/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00265072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l" fontAlgn="ctr"/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107935616"/>
                  </a:ext>
                </a:extLst>
              </a:tr>
              <a:tr h="52545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300" u="none" strike="noStrike">
                          <a:effectLst/>
                        </a:rPr>
                        <a:t>● 제품명 </a:t>
                      </a:r>
                      <a:r>
                        <a:rPr lang="en-US" altLang="ko-KR" sz="300" u="none" strike="noStrike">
                          <a:effectLst/>
                        </a:rPr>
                        <a:t>: 230mm</a:t>
                      </a:r>
                      <a:r>
                        <a:rPr lang="ko-KR" altLang="en-US" sz="300" u="none" strike="noStrike">
                          <a:effectLst/>
                        </a:rPr>
                        <a:t>무유도 고정나사</a:t>
                      </a:r>
                      <a:r>
                        <a:rPr lang="en-US" altLang="ko-KR" sz="300" u="none" strike="noStrike">
                          <a:effectLst/>
                        </a:rPr>
                        <a:t>(</a:t>
                      </a:r>
                      <a:r>
                        <a:rPr lang="ko-KR" altLang="en-US" sz="300" u="none" strike="noStrike">
                          <a:effectLst/>
                        </a:rPr>
                        <a:t>격침용</a:t>
                      </a:r>
                      <a:r>
                        <a:rPr lang="en-US" altLang="ko-KR" sz="300" u="none" strike="noStrike">
                          <a:effectLst/>
                        </a:rPr>
                        <a:t>)</a:t>
                      </a:r>
                      <a:endParaRPr lang="en-US" altLang="ko-KR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155784922"/>
                  </a:ext>
                </a:extLst>
              </a:tr>
              <a:tr h="494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</a:t>
                      </a:r>
                      <a:br>
                        <a:rPr lang="ko-KR" altLang="en-US" sz="200" u="none" strike="noStrike">
                          <a:effectLst/>
                        </a:rPr>
                      </a:br>
                      <a:r>
                        <a:rPr lang="ko-KR" altLang="en-US" sz="200" u="none" strike="noStrike">
                          <a:effectLst/>
                        </a:rPr>
                        <a:t>번호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단위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수량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인원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시간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공수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비고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280383826"/>
                  </a:ext>
                </a:extLst>
              </a:tr>
              <a:tr h="49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공정명칭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분류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작업내용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(M)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(H)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396750561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원자재 검사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수작업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외관</a:t>
                      </a:r>
                      <a:r>
                        <a:rPr lang="en-US" altLang="ko-KR" sz="200" u="none" strike="noStrike">
                          <a:effectLst/>
                        </a:rPr>
                        <a:t>,</a:t>
                      </a:r>
                      <a:r>
                        <a:rPr lang="ko-KR" altLang="en-US" sz="200" u="none" strike="noStrike">
                          <a:effectLst/>
                        </a:rPr>
                        <a:t>치수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622448080"/>
                  </a:ext>
                </a:extLst>
              </a:tr>
              <a:tr h="775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선 삭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CNC </a:t>
                      </a:r>
                      <a:r>
                        <a:rPr lang="ko-KR" altLang="en-US" sz="200" u="none" strike="noStrike">
                          <a:effectLst/>
                        </a:rPr>
                        <a:t>자동선반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완성가공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1.348315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0.022471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8hR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73831551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3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출하 검사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수작업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가공부 치수</a:t>
                      </a:r>
                      <a:r>
                        <a:rPr lang="en-US" altLang="ko-KR" sz="200" u="none" strike="noStrike">
                          <a:effectLst/>
                        </a:rPr>
                        <a:t>,</a:t>
                      </a:r>
                      <a:r>
                        <a:rPr lang="ko-KR" altLang="en-US" sz="200" u="none" strike="noStrike">
                          <a:effectLst/>
                        </a:rPr>
                        <a:t>외관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693319223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4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88449646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5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94788681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6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50574074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7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17322703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8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161089435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9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90154512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10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00470975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51240682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64473150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13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155435441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14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62257129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15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540433972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16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06406581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17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2398616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18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54306663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19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151649174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20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209839135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470648694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390168100"/>
                  </a:ext>
                </a:extLst>
              </a:tr>
              <a:tr h="49423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합         계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0.022471</a:t>
                      </a:r>
                      <a:endParaRPr lang="en-US" altLang="ko-KR" sz="200" b="1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79324120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l" fontAlgn="ctr"/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106546711"/>
                  </a:ext>
                </a:extLst>
              </a:tr>
              <a:tr h="41620">
                <a:tc>
                  <a:txBody>
                    <a:bodyPr/>
                    <a:lstStyle/>
                    <a:p>
                      <a:pPr algn="l" fontAlgn="ctr"/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376422899"/>
                  </a:ext>
                </a:extLst>
              </a:tr>
              <a:tr h="52545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300" u="none" strike="noStrike">
                          <a:effectLst/>
                        </a:rPr>
                        <a:t>● 제품명 </a:t>
                      </a:r>
                      <a:r>
                        <a:rPr lang="en-US" altLang="ko-KR" sz="300" u="none" strike="noStrike">
                          <a:effectLst/>
                        </a:rPr>
                        <a:t>: 230mm</a:t>
                      </a:r>
                      <a:r>
                        <a:rPr lang="ko-KR" altLang="en-US" sz="300" u="none" strike="noStrike">
                          <a:effectLst/>
                        </a:rPr>
                        <a:t>무유도 고정나사</a:t>
                      </a:r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00392103"/>
                  </a:ext>
                </a:extLst>
              </a:tr>
              <a:tr h="494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</a:t>
                      </a:r>
                      <a:br>
                        <a:rPr lang="ko-KR" altLang="en-US" sz="200" u="none" strike="noStrike">
                          <a:effectLst/>
                        </a:rPr>
                      </a:br>
                      <a:r>
                        <a:rPr lang="ko-KR" altLang="en-US" sz="200" u="none" strike="noStrike">
                          <a:effectLst/>
                        </a:rPr>
                        <a:t>번호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단위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수량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인원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시간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공수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비고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8126755"/>
                  </a:ext>
                </a:extLst>
              </a:tr>
              <a:tr h="49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공정명칭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분류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작업내용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(M)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(H)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47120746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원자재 검사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수작업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외관</a:t>
                      </a:r>
                      <a:r>
                        <a:rPr lang="en-US" altLang="ko-KR" sz="200" u="none" strike="noStrike">
                          <a:effectLst/>
                        </a:rPr>
                        <a:t>,</a:t>
                      </a:r>
                      <a:r>
                        <a:rPr lang="ko-KR" altLang="en-US" sz="200" u="none" strike="noStrike">
                          <a:effectLst/>
                        </a:rPr>
                        <a:t>치수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492663212"/>
                  </a:ext>
                </a:extLst>
              </a:tr>
              <a:tr h="775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선 삭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CNC </a:t>
                      </a:r>
                      <a:r>
                        <a:rPr lang="ko-KR" altLang="en-US" sz="200" u="none" strike="noStrike">
                          <a:effectLst/>
                        </a:rPr>
                        <a:t>자동선반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선삭 가공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1.162228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0.019370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8hR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045265163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3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캇 팅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MCT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캇 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0.930233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0.015503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 8hR 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639364208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4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공정 검사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수작업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가공부 치수</a:t>
                      </a:r>
                      <a:r>
                        <a:rPr lang="en-US" altLang="ko-KR" sz="200" u="none" strike="noStrike">
                          <a:effectLst/>
                        </a:rPr>
                        <a:t>,</a:t>
                      </a:r>
                      <a:r>
                        <a:rPr lang="ko-KR" altLang="en-US" sz="200" u="none" strike="noStrike">
                          <a:effectLst/>
                        </a:rPr>
                        <a:t>외관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721965488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5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도 금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-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도 금</a:t>
                      </a:r>
                      <a:r>
                        <a:rPr lang="en-US" altLang="ko-KR" sz="200" u="none" strike="noStrike">
                          <a:effectLst/>
                        </a:rPr>
                        <a:t>(</a:t>
                      </a:r>
                      <a:r>
                        <a:rPr lang="ko-KR" altLang="en-US" sz="200" u="none" strike="noStrike">
                          <a:effectLst/>
                        </a:rPr>
                        <a:t>외주</a:t>
                      </a:r>
                      <a:r>
                        <a:rPr lang="en-US" altLang="ko-KR" sz="200" u="none" strike="noStrike">
                          <a:effectLst/>
                        </a:rPr>
                        <a:t>)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 외주가공 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872571981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6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출하 검사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수작업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가공부 치수</a:t>
                      </a:r>
                      <a:r>
                        <a:rPr lang="en-US" altLang="ko-KR" sz="200" u="none" strike="noStrike">
                          <a:effectLst/>
                        </a:rPr>
                        <a:t>,</a:t>
                      </a:r>
                      <a:r>
                        <a:rPr lang="ko-KR" altLang="en-US" sz="200" u="none" strike="noStrike">
                          <a:effectLst/>
                        </a:rPr>
                        <a:t>외관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" u="none" strike="noStrike">
                          <a:effectLst/>
                        </a:rPr>
                        <a:t>EA</a:t>
                      </a:r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0.000000 </a:t>
                      </a:r>
                      <a:endParaRPr lang="en-US" altLang="ko-KR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508295903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7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099046632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8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4294567336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9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7536383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10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13054826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565328652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74458384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13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72692824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14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292237495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15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3574031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16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19257183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17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591568287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18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316779765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19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757926458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20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2121100409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21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982505180"/>
                  </a:ext>
                </a:extLst>
              </a:tr>
              <a:tr h="494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22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976911216"/>
                  </a:ext>
                </a:extLst>
              </a:tr>
              <a:tr h="49423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합         계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" u="none" strike="noStrike">
                          <a:effectLst/>
                        </a:rPr>
                        <a:t>0.034873</a:t>
                      </a:r>
                      <a:endParaRPr lang="en-US" altLang="ko-KR" sz="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" u="none" strike="noStrike">
                          <a:effectLst/>
                        </a:rPr>
                        <a:t>　</a:t>
                      </a:r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01" marR="2601" marT="2601" marB="0" anchor="ctr"/>
                </a:tc>
                <a:extLst>
                  <a:ext uri="{0D108BD9-81ED-4DB2-BD59-A6C34878D82A}">
                    <a16:rowId xmlns:a16="http://schemas.microsoft.com/office/drawing/2014/main" val="1535847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266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1363</Words>
  <Application>Microsoft Office PowerPoint</Application>
  <PresentationFormat>Widescreen</PresentationFormat>
  <Paragraphs>1151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</dc:creator>
  <cp:lastModifiedBy>com</cp:lastModifiedBy>
  <cp:revision>2</cp:revision>
  <dcterms:created xsi:type="dcterms:W3CDTF">2025-06-21T06:07:26Z</dcterms:created>
  <dcterms:modified xsi:type="dcterms:W3CDTF">2025-06-21T06:09:44Z</dcterms:modified>
</cp:coreProperties>
</file>